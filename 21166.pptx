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1" r:id="rId7"/>
    <p:sldId id="263" r:id="rId8"/>
    <p:sldId id="262" r:id="rId9"/>
    <p:sldId id="269" r:id="rId10"/>
    <p:sldId id="264" r:id="rId11"/>
    <p:sldId id="265" r:id="rId12"/>
    <p:sldId id="266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E77AE-2263-4749-9069-1D921216D0C2}" v="303" dt="2025-04-25T17:50:29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LLM Based Chatbot Assistant</a:t>
            </a:r>
            <a:endParaRPr lang="en-IN" sz="4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954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Using Llama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ACFF3-3637-C560-B04E-F0E78E4A0194}"/>
              </a:ext>
            </a:extLst>
          </p:cNvPr>
          <p:cNvSpPr txBox="1"/>
          <p:nvPr/>
        </p:nvSpPr>
        <p:spPr>
          <a:xfrm>
            <a:off x="753234" y="5113719"/>
            <a:ext cx="49143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Vignesh Kumar Reddy V</a:t>
            </a:r>
          </a:p>
          <a:p>
            <a:r>
              <a:rPr lang="en-US" dirty="0"/>
              <a:t>CB.SC.I5DAS21166</a:t>
            </a:r>
          </a:p>
          <a:p>
            <a:r>
              <a:rPr lang="en-US" err="1"/>
              <a:t>Int.Msc.Data</a:t>
            </a:r>
            <a:r>
              <a:rPr lang="en-US"/>
              <a:t> Science</a:t>
            </a:r>
          </a:p>
          <a:p>
            <a:r>
              <a:rPr lang="en-US" dirty="0"/>
              <a:t>Sem: VIII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455EA-D8B0-CF62-35FE-4B147ABB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869" y="192881"/>
            <a:ext cx="49339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D213-E3EE-194E-0049-ED31DD4BD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Aim &amp;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D640-ED47-8C8A-B65C-30002A02D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Aim: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Develop an intelligent system integrating recommendation, RAG, agents, and databases for efficient decision-making.</a:t>
            </a: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Objectives: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Implement recommendation using </a:t>
            </a:r>
            <a:r>
              <a:rPr lang="en-US" sz="2000" b="1" dirty="0">
                <a:ea typeface="+mn-lt"/>
                <a:cs typeface="+mn-lt"/>
              </a:rPr>
              <a:t>FP-Growth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Develop a </a:t>
            </a:r>
            <a:r>
              <a:rPr lang="en-US" sz="2000" b="1" dirty="0">
                <a:ea typeface="+mn-lt"/>
                <a:cs typeface="+mn-lt"/>
              </a:rPr>
              <a:t>FAISS RAG system</a:t>
            </a:r>
            <a:r>
              <a:rPr lang="en-US" sz="2000" dirty="0">
                <a:ea typeface="+mn-lt"/>
                <a:cs typeface="+mn-lt"/>
              </a:rPr>
              <a:t> for efficient retrieval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Store and manage structured/unstructured data using </a:t>
            </a:r>
            <a:r>
              <a:rPr lang="en-IN" sz="1800" b="1" dirty="0" err="1"/>
              <a:t>FastAPI</a:t>
            </a:r>
            <a:r>
              <a:rPr lang="en-IN" sz="1600" dirty="0"/>
              <a:t> </a:t>
            </a:r>
            <a:r>
              <a:rPr lang="en-IN" sz="1800" dirty="0"/>
              <a:t>Session Storage </a:t>
            </a:r>
            <a:r>
              <a:rPr lang="en-US" sz="2000" b="1" dirty="0">
                <a:ea typeface="+mn-lt"/>
                <a:cs typeface="+mn-lt"/>
              </a:rPr>
              <a:t>&amp; </a:t>
            </a:r>
            <a:r>
              <a:rPr lang="en-US" sz="1800" b="1" dirty="0">
                <a:ea typeface="+mn-lt"/>
                <a:cs typeface="+mn-lt"/>
              </a:rPr>
              <a:t>MongoDB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Build AI-powered </a:t>
            </a:r>
            <a:r>
              <a:rPr lang="en-US" sz="2000" b="1" dirty="0">
                <a:ea typeface="+mn-lt"/>
                <a:cs typeface="+mn-lt"/>
              </a:rPr>
              <a:t>Agents</a:t>
            </a:r>
            <a:r>
              <a:rPr lang="en-US" sz="2000" dirty="0">
                <a:ea typeface="+mn-lt"/>
                <a:cs typeface="+mn-lt"/>
              </a:rPr>
              <a:t> to assist in various tasks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Maintain session history for </a:t>
            </a:r>
            <a:r>
              <a:rPr lang="en-US" sz="2000" b="1" dirty="0">
                <a:ea typeface="+mn-lt"/>
                <a:cs typeface="+mn-lt"/>
              </a:rPr>
              <a:t>better context handling in LLMs</a:t>
            </a:r>
            <a:endParaRPr lang="en-US" sz="20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6311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9921-FF70-9F9E-70FE-8E182C1A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flow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8A71E-9E17-D104-F282-B2C31AC63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250" y="571500"/>
            <a:ext cx="8170096" cy="59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56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BCCC1-419A-9B25-9759-B5121864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Completed Work - Recommendation System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BDD0-4D7C-635D-4A22-4B5C68A2A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Implemented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FP-Growth for generating recommendations</a:t>
            </a: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How it works: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If items </a:t>
            </a:r>
            <a:r>
              <a:rPr lang="en-US" sz="2000" b="1" dirty="0">
                <a:ea typeface="+mn-lt"/>
                <a:cs typeface="+mn-lt"/>
              </a:rPr>
              <a:t>X</a:t>
            </a:r>
            <a:r>
              <a:rPr lang="en-US" sz="2000" dirty="0">
                <a:ea typeface="+mn-lt"/>
                <a:cs typeface="+mn-lt"/>
              </a:rPr>
              <a:t> and </a:t>
            </a:r>
            <a:r>
              <a:rPr lang="en-US" sz="2000" b="1" dirty="0">
                <a:ea typeface="+mn-lt"/>
                <a:cs typeface="+mn-lt"/>
              </a:rPr>
              <a:t>Y</a:t>
            </a:r>
            <a:r>
              <a:rPr lang="en-US" sz="2000" dirty="0">
                <a:ea typeface="+mn-lt"/>
                <a:cs typeface="+mn-lt"/>
              </a:rPr>
              <a:t> are frequently bought together, the system recommends </a:t>
            </a:r>
            <a:r>
              <a:rPr lang="en-US" sz="2000" b="1" dirty="0">
                <a:ea typeface="+mn-lt"/>
                <a:cs typeface="+mn-lt"/>
              </a:rPr>
              <a:t>Y</a:t>
            </a:r>
            <a:r>
              <a:rPr lang="en-US" sz="2000" dirty="0">
                <a:ea typeface="+mn-lt"/>
                <a:cs typeface="+mn-lt"/>
              </a:rPr>
              <a:t> when </a:t>
            </a:r>
            <a:r>
              <a:rPr lang="en-US" sz="2000" b="1" dirty="0">
                <a:ea typeface="+mn-lt"/>
                <a:cs typeface="+mn-lt"/>
              </a:rPr>
              <a:t>X</a:t>
            </a:r>
            <a:r>
              <a:rPr lang="en-US" sz="2000" dirty="0">
                <a:ea typeface="+mn-lt"/>
                <a:cs typeface="+mn-lt"/>
              </a:rPr>
              <a:t> is purchased.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Used </a:t>
            </a:r>
            <a:r>
              <a:rPr lang="en-US" sz="2000" b="1" dirty="0">
                <a:ea typeface="+mn-lt"/>
                <a:cs typeface="+mn-lt"/>
              </a:rPr>
              <a:t>Confidence</a:t>
            </a:r>
            <a:r>
              <a:rPr lang="en-US" sz="2000" dirty="0">
                <a:ea typeface="+mn-lt"/>
                <a:cs typeface="+mn-lt"/>
              </a:rPr>
              <a:t> and </a:t>
            </a:r>
            <a:r>
              <a:rPr lang="en-US" sz="2000" b="1" dirty="0">
                <a:ea typeface="+mn-lt"/>
                <a:cs typeface="+mn-lt"/>
              </a:rPr>
              <a:t>Lift</a:t>
            </a:r>
            <a:r>
              <a:rPr lang="en-US" sz="2000" dirty="0">
                <a:ea typeface="+mn-lt"/>
                <a:cs typeface="+mn-lt"/>
              </a:rPr>
              <a:t> metrics to ensure strong and relevant recommendations.</a:t>
            </a:r>
            <a:endParaRPr lang="en-US" sz="2000"/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Why FP-Growth?</a:t>
            </a:r>
            <a:endParaRPr lang="en-US" sz="2000"/>
          </a:p>
          <a:p>
            <a:r>
              <a:rPr lang="en-US" sz="2000" b="1" dirty="0">
                <a:ea typeface="+mn-lt"/>
                <a:cs typeface="+mn-lt"/>
              </a:rPr>
              <a:t>Memory Efficient:</a:t>
            </a:r>
            <a:r>
              <a:rPr lang="en-US" sz="2000" dirty="0">
                <a:ea typeface="+mn-lt"/>
                <a:cs typeface="+mn-lt"/>
              </a:rPr>
              <a:t> Works well with large datasets by compressing transactions into a tree structure.</a:t>
            </a:r>
            <a:endParaRPr lang="en-US" sz="2000"/>
          </a:p>
          <a:p>
            <a:r>
              <a:rPr lang="en-US" sz="2000" b="1" dirty="0">
                <a:ea typeface="+mn-lt"/>
                <a:cs typeface="+mn-lt"/>
              </a:rPr>
              <a:t>Fast Processing:</a:t>
            </a:r>
            <a:r>
              <a:rPr lang="en-US" sz="2000" dirty="0">
                <a:ea typeface="+mn-lt"/>
                <a:cs typeface="+mn-lt"/>
              </a:rPr>
              <a:t> Directly extracts frequent item sets without multiple scans.</a:t>
            </a:r>
            <a:endParaRPr lang="en-US" sz="24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077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8560-280F-150F-6C2C-4E43D76A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Completed Work - FAISS RAG System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01B0A-3631-D509-84B2-D74297276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Implemented: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FAISS (Facebook AI Similarity Search) for </a:t>
            </a:r>
            <a:r>
              <a:rPr lang="en-US" sz="2000" b="1" dirty="0">
                <a:ea typeface="+mn-lt"/>
                <a:cs typeface="+mn-lt"/>
              </a:rPr>
              <a:t>RAG (Retrieval-Augmented Generation)</a:t>
            </a:r>
            <a:endParaRPr lang="en-US" sz="2000"/>
          </a:p>
          <a:p>
            <a:pPr marL="0" indent="0">
              <a:buNone/>
            </a:pPr>
            <a:endParaRPr lang="en-US" sz="2000" b="1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Key Features: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Inner Product search or cosine similarity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Supports high-dimensional vector storage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Efficient retrieval for LLM-based responses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2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DD68-16B0-A169-1792-6EB32903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Completed Work - MongoDB for Chats &amp; Sessions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3EF00-4E11-0D1A-3262-C67FEBCE8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Used for: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Storing </a:t>
            </a:r>
            <a:r>
              <a:rPr lang="en-US" sz="2400" b="1" dirty="0">
                <a:ea typeface="+mn-lt"/>
                <a:cs typeface="+mn-lt"/>
              </a:rPr>
              <a:t>chat history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Managing </a:t>
            </a:r>
            <a:r>
              <a:rPr lang="en-US" sz="2400" b="1" dirty="0">
                <a:ea typeface="+mn-lt"/>
                <a:cs typeface="+mn-lt"/>
              </a:rPr>
              <a:t>sessions across different interactions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Preserving user context for </a:t>
            </a:r>
            <a:r>
              <a:rPr lang="en-US" sz="2400" b="1" dirty="0">
                <a:ea typeface="+mn-lt"/>
                <a:cs typeface="+mn-lt"/>
              </a:rPr>
              <a:t>better AI-driven responses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45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9044-4043-A135-AFED-39BFD3B3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lt"/>
                <a:cs typeface="+mj-lt"/>
              </a:rPr>
              <a:t>Completed Work - </a:t>
            </a:r>
            <a:r>
              <a:rPr lang="en-US" sz="3600" dirty="0" err="1">
                <a:ea typeface="+mj-lt"/>
                <a:cs typeface="+mj-lt"/>
              </a:rPr>
              <a:t>FastAPI</a:t>
            </a:r>
            <a:r>
              <a:rPr lang="en-US" sz="3600" dirty="0">
                <a:ea typeface="+mj-lt"/>
                <a:cs typeface="+mj-lt"/>
              </a:rPr>
              <a:t> Session History for LLMs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CA6E-ABE2-8E1C-C2C8-9B8C456EE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Objective:</a:t>
            </a:r>
            <a:r>
              <a:rPr lang="en-US" sz="2400" dirty="0">
                <a:ea typeface="+mn-lt"/>
                <a:cs typeface="+mn-lt"/>
              </a:rPr>
              <a:t> Store and track session history to enhance LLM understanding of user intent</a:t>
            </a:r>
            <a:endParaRPr lang="en-US" sz="2400"/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Why?</a:t>
            </a:r>
            <a:r>
              <a:rPr lang="en-US" sz="3200" dirty="0">
                <a:ea typeface="+mn-lt"/>
                <a:cs typeface="+mn-lt"/>
              </a:rPr>
              <a:t> </a:t>
            </a:r>
            <a:endParaRPr lang="en-US" sz="3200"/>
          </a:p>
          <a:p>
            <a:r>
              <a:rPr lang="en-US" sz="2400" dirty="0">
                <a:ea typeface="+mn-lt"/>
                <a:cs typeface="+mn-lt"/>
              </a:rPr>
              <a:t>Context retention across multiple interactions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More accurate responses from LLMs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Seamless user experience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5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FF79-B4C3-79F7-2E6B-FFCB7DB2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Completed Work - Agents Development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5E2B4-6EE2-1A63-5CED-43FDCB98F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Planned Agents: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Menu Agent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– With FAISS retrieve documents and give context to llama.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Recommendation Agent</a:t>
            </a:r>
            <a:r>
              <a:rPr lang="en-US" sz="3200" dirty="0">
                <a:ea typeface="+mn-lt"/>
                <a:cs typeface="+mn-lt"/>
              </a:rPr>
              <a:t> – </a:t>
            </a:r>
            <a:r>
              <a:rPr lang="en-US" sz="2400" dirty="0">
                <a:ea typeface="+mn-lt"/>
                <a:cs typeface="+mn-lt"/>
              </a:rPr>
              <a:t>Provides personalized suggestions based on retrieved entities using FP-Growth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Order Agent </a:t>
            </a:r>
            <a:r>
              <a:rPr lang="en-US" sz="3200" dirty="0">
                <a:ea typeface="+mn-lt"/>
                <a:cs typeface="+mn-lt"/>
              </a:rPr>
              <a:t>– </a:t>
            </a:r>
            <a:r>
              <a:rPr lang="en-US" sz="2400" dirty="0">
                <a:ea typeface="+mn-lt"/>
                <a:cs typeface="+mn-lt"/>
              </a:rPr>
              <a:t>Will handle order-specific queries like item selection and quantity; currently managed by </a:t>
            </a:r>
            <a:r>
              <a:rPr lang="en-US" sz="2400" dirty="0" err="1">
                <a:ea typeface="+mn-lt"/>
                <a:cs typeface="+mn-lt"/>
              </a:rPr>
              <a:t>LLaMA</a:t>
            </a:r>
            <a:r>
              <a:rPr lang="en-US" sz="2400" dirty="0">
                <a:ea typeface="+mn-lt"/>
                <a:cs typeface="+mn-lt"/>
              </a:rPr>
              <a:t> for basic order understanding.</a:t>
            </a:r>
            <a:endParaRPr lang="en-US" sz="2400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6992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B8BE-BBA1-519B-51B1-9216634C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Solving Real-World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83487-1591-DB23-9E96-776F68890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Handles repetitive customer queries instantly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Provides personalized suggestions, unlike static bots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Works well on simple systems — no need for high-end infrastructure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Remembers context within a session for better interaction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Reduces human effort in small business environments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2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68FC-B7C6-710C-29A9-49939BA2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Future Work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5C124-3EDE-8864-16C9-5360BBE6D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   </a:t>
            </a:r>
            <a:r>
              <a:rPr lang="en-US" sz="2400" b="1" u="sng" dirty="0">
                <a:ea typeface="+mn-lt"/>
                <a:cs typeface="+mn-lt"/>
              </a:rPr>
              <a:t>After Mini-project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Improving RAG system with Advanced Algorithms</a:t>
            </a:r>
          </a:p>
          <a:p>
            <a:r>
              <a:rPr lang="en-US" sz="2400" dirty="0">
                <a:ea typeface="+mn-lt"/>
                <a:cs typeface="+mn-lt"/>
              </a:rPr>
              <a:t>Implementing Redis to scale better</a:t>
            </a:r>
          </a:p>
          <a:p>
            <a:r>
              <a:rPr lang="en-US" sz="2400" dirty="0">
                <a:ea typeface="+mn-lt"/>
                <a:cs typeface="+mn-lt"/>
              </a:rPr>
              <a:t>Improving Recommendation models with different Machine learning or deep learning approaches.</a:t>
            </a:r>
            <a:endParaRPr lang="en-US" sz="240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Add dedicated intent classifier to reduce LLM load.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Implement a user authentication system to enable login-based access and retain past chat history across sessions for better personalization.</a:t>
            </a:r>
            <a:endParaRPr lang="en-US" sz="2400" dirty="0"/>
          </a:p>
          <a:p>
            <a:endParaRPr lang="en-US" sz="2000" b="1" dirty="0"/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6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DD5F-99A3-D394-280A-AFC44726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C4CA1-EF21-70D4-C525-E5DA4C80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FAISS (Facebook AI Similarity Search):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 u="sng" dirty="0">
                <a:ea typeface="+mn-lt"/>
                <a:cs typeface="+mn-lt"/>
              </a:rPr>
              <a:t>The </a:t>
            </a:r>
            <a:r>
              <a:rPr lang="en-US" sz="1800" u="sng" err="1">
                <a:ea typeface="+mn-lt"/>
                <a:cs typeface="+mn-lt"/>
              </a:rPr>
              <a:t>Faiss</a:t>
            </a:r>
            <a:r>
              <a:rPr lang="en-US" sz="1800" u="sng" dirty="0">
                <a:ea typeface="+mn-lt"/>
                <a:cs typeface="+mn-lt"/>
              </a:rPr>
              <a:t> Library</a:t>
            </a:r>
            <a:endParaRPr lang="en-US" sz="1800" b="1" u="sng" dirty="0">
              <a:ea typeface="+mn-lt"/>
              <a:cs typeface="+mn-lt"/>
            </a:endParaRPr>
          </a:p>
          <a:p>
            <a:r>
              <a:rPr lang="en-US" sz="1800" i="1" dirty="0">
                <a:ea typeface="+mn-lt"/>
                <a:cs typeface="+mn-lt"/>
              </a:rPr>
              <a:t>Authors:</a:t>
            </a:r>
            <a:r>
              <a:rPr lang="en-US" sz="1800" dirty="0">
                <a:ea typeface="+mn-lt"/>
                <a:cs typeface="+mn-lt"/>
              </a:rPr>
              <a:t> Matthijs Douze, Maximilien </a:t>
            </a:r>
            <a:r>
              <a:rPr lang="en-US" sz="1800" dirty="0" err="1">
                <a:ea typeface="+mn-lt"/>
                <a:cs typeface="+mn-lt"/>
              </a:rPr>
              <a:t>Guzhva</a:t>
            </a:r>
            <a:r>
              <a:rPr lang="en-US" sz="1800" dirty="0">
                <a:ea typeface="+mn-lt"/>
                <a:cs typeface="+mn-lt"/>
              </a:rPr>
              <a:t>, Vincent </a:t>
            </a:r>
            <a:r>
              <a:rPr lang="en-US" sz="1800" dirty="0" err="1">
                <a:ea typeface="+mn-lt"/>
                <a:cs typeface="+mn-lt"/>
              </a:rPr>
              <a:t>Leordeanu</a:t>
            </a:r>
            <a:r>
              <a:rPr lang="en-US" sz="1800" dirty="0">
                <a:ea typeface="+mn-lt"/>
                <a:cs typeface="+mn-lt"/>
              </a:rPr>
              <a:t>, Jeff Johnson, Hervé Jégou, and Tomasz </a:t>
            </a:r>
            <a:r>
              <a:rPr lang="en-US" sz="1800" dirty="0" err="1">
                <a:ea typeface="+mn-lt"/>
                <a:cs typeface="+mn-lt"/>
              </a:rPr>
              <a:t>Malisiewicz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i="1" dirty="0">
                <a:ea typeface="+mn-lt"/>
                <a:cs typeface="+mn-lt"/>
              </a:rPr>
              <a:t>Published:</a:t>
            </a:r>
            <a:r>
              <a:rPr lang="en-US" sz="1800" dirty="0">
                <a:ea typeface="+mn-lt"/>
                <a:cs typeface="+mn-lt"/>
              </a:rPr>
              <a:t> January 2024</a:t>
            </a:r>
            <a:endParaRPr lang="en-US" sz="1800" b="1" dirty="0">
              <a:ea typeface="+mn-lt"/>
              <a:cs typeface="+mn-lt"/>
            </a:endParaRPr>
          </a:p>
          <a:p>
            <a:endParaRPr lang="en-US" sz="1800"/>
          </a:p>
          <a:p>
            <a:r>
              <a:rPr lang="en-US" sz="1800" b="1" dirty="0">
                <a:ea typeface="+mn-lt"/>
                <a:cs typeface="+mn-lt"/>
              </a:rPr>
              <a:t>Retrieval-Augmented Generation (RAG):</a:t>
            </a:r>
          </a:p>
          <a:p>
            <a:r>
              <a:rPr lang="en-US" sz="1800" u="sng">
                <a:ea typeface="+mn-lt"/>
                <a:cs typeface="+mn-lt"/>
              </a:rPr>
              <a:t>Retrieval-Augmented Generation for Knowledge-Intensive NLP Tasks</a:t>
            </a:r>
            <a:endParaRPr lang="en-US" sz="1800">
              <a:ea typeface="+mn-lt"/>
              <a:cs typeface="+mn-lt"/>
            </a:endParaRPr>
          </a:p>
          <a:p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i="1" dirty="0">
                <a:ea typeface="+mn-lt"/>
                <a:cs typeface="+mn-lt"/>
              </a:rPr>
              <a:t>Authors:</a:t>
            </a:r>
            <a:r>
              <a:rPr lang="en-US" sz="1800" dirty="0">
                <a:ea typeface="+mn-lt"/>
                <a:cs typeface="+mn-lt"/>
              </a:rPr>
              <a:t> Patrick Lewis, Ethan Perez, </a:t>
            </a:r>
            <a:r>
              <a:rPr lang="en-US" sz="1800" err="1">
                <a:ea typeface="+mn-lt"/>
                <a:cs typeface="+mn-lt"/>
              </a:rPr>
              <a:t>Aleksandara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Piktus</a:t>
            </a:r>
            <a:r>
              <a:rPr lang="en-US" sz="1800" dirty="0">
                <a:ea typeface="+mn-lt"/>
                <a:cs typeface="+mn-lt"/>
              </a:rPr>
              <a:t>, Fabio Petroni, Vladimir </a:t>
            </a:r>
            <a:r>
              <a:rPr lang="en-US" sz="1800" err="1">
                <a:ea typeface="+mn-lt"/>
                <a:cs typeface="+mn-lt"/>
              </a:rPr>
              <a:t>Karpukhin</a:t>
            </a:r>
            <a:r>
              <a:rPr lang="en-US" sz="1800" dirty="0">
                <a:ea typeface="+mn-lt"/>
                <a:cs typeface="+mn-lt"/>
              </a:rPr>
              <a:t>, Naman Goyal, Heinrich </a:t>
            </a:r>
            <a:r>
              <a:rPr lang="en-US" sz="1800" err="1">
                <a:ea typeface="+mn-lt"/>
                <a:cs typeface="+mn-lt"/>
              </a:rPr>
              <a:t>Küttler</a:t>
            </a:r>
            <a:r>
              <a:rPr lang="en-US" sz="1800" dirty="0">
                <a:ea typeface="+mn-lt"/>
                <a:cs typeface="+mn-lt"/>
              </a:rPr>
              <a:t>, Mike Lewis, Wen-tau Yih, Tim </a:t>
            </a:r>
            <a:r>
              <a:rPr lang="en-US" sz="1800" err="1">
                <a:ea typeface="+mn-lt"/>
                <a:cs typeface="+mn-lt"/>
              </a:rPr>
              <a:t>Rocktäschel</a:t>
            </a:r>
            <a:r>
              <a:rPr lang="en-US" sz="1800" dirty="0">
                <a:ea typeface="+mn-lt"/>
                <a:cs typeface="+mn-lt"/>
              </a:rPr>
              <a:t>, Sebastian Riedel, and Douwe Kiela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i="1" dirty="0">
                <a:ea typeface="+mn-lt"/>
                <a:cs typeface="+mn-lt"/>
              </a:rPr>
              <a:t>Published:</a:t>
            </a:r>
            <a:r>
              <a:rPr lang="en-US" sz="1800" dirty="0">
                <a:ea typeface="+mn-lt"/>
                <a:cs typeface="+mn-lt"/>
              </a:rPr>
              <a:t> May 2020</a:t>
            </a:r>
            <a:endParaRPr lang="en-US" sz="18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670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632F8B-9D10-324D-14BF-157406C94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625" y="526146"/>
            <a:ext cx="11288039" cy="529059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B0F17B-7FC1-A510-F6C3-52861C362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013" y="3941197"/>
            <a:ext cx="4400550" cy="164782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11908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8CEB-493D-729A-55A0-46BC0342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BAC56A-9851-1AEE-4D3F-2D48EA46C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016" y="1345461"/>
            <a:ext cx="11434132" cy="5509994"/>
          </a:xfrm>
        </p:spPr>
      </p:pic>
    </p:spTree>
    <p:extLst>
      <p:ext uri="{BB962C8B-B14F-4D97-AF65-F5344CB8AC3E}">
        <p14:creationId xmlns:p14="http://schemas.microsoft.com/office/powerpoint/2010/main" val="3006337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5D4850-9CE8-24CE-5871-9469AB8F5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224" y="280749"/>
            <a:ext cx="4959552" cy="58127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0BDAB4-C6AE-FEEA-96C2-0D256DD21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64" y="278704"/>
            <a:ext cx="4727791" cy="58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13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9F511F-AF21-B5D2-31D7-C6192CA6C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614" y="426418"/>
            <a:ext cx="4913072" cy="554224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2A6E81-315B-EA33-65E4-42043048C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233" y="427581"/>
            <a:ext cx="491920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76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519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LLM Based Chatbot Assistant</vt:lpstr>
      <vt:lpstr>Project Aim &amp; Objective</vt:lpstr>
      <vt:lpstr>Work flow</vt:lpstr>
      <vt:lpstr>Completed Work - Recommendation System</vt:lpstr>
      <vt:lpstr>Completed Work - FAISS RAG System</vt:lpstr>
      <vt:lpstr>Completed Work - MongoDB for Chats &amp; Sessions</vt:lpstr>
      <vt:lpstr>Completed Work - FastAPI Session History for LLMs</vt:lpstr>
      <vt:lpstr>Completed Work - Agents Development</vt:lpstr>
      <vt:lpstr>Solving Real-World Problems</vt:lpstr>
      <vt:lpstr>Future Work</vt:lpstr>
      <vt:lpstr>References</vt:lpstr>
      <vt:lpstr>PowerPoint Presentation</vt:lpstr>
      <vt:lpstr>Outputs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 V</cp:lastModifiedBy>
  <cp:revision>303</cp:revision>
  <dcterms:created xsi:type="dcterms:W3CDTF">2025-03-18T18:27:47Z</dcterms:created>
  <dcterms:modified xsi:type="dcterms:W3CDTF">2025-04-25T18:11:23Z</dcterms:modified>
</cp:coreProperties>
</file>